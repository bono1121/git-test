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2" r:id="rId8"/>
    <p:sldId id="265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2FCF45-387F-4868-BEED-4A73301F78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65DDE0F-6271-44A0-9354-9AB4E2C31A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63F071-384C-4299-822A-D5C3411E7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678E0-5032-4FB3-90DC-B9AE7FE7BC4F}" type="datetimeFigureOut">
              <a:rPr lang="ko-KR" altLang="en-US" smtClean="0"/>
              <a:t>2021-11-29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81BC25-48C9-4D83-BE7C-90A8C5632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DFE629E-F92B-4BF8-A09D-7EEE76C4F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E4E9D-0A7B-4C03-A23A-6C4A9DFD81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816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D22B98-1406-4AEE-AFD0-DB445CB7F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9C59A1-91FE-43D6-8137-AF67C2500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B7A5730-D5CA-4B62-9DF5-6A2FD0F78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678E0-5032-4FB3-90DC-B9AE7FE7BC4F}" type="datetimeFigureOut">
              <a:rPr lang="ko-KR" altLang="en-US" smtClean="0"/>
              <a:t>2021-11-29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28E068-ACB0-483F-9101-387C88F46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699556-9D55-44BE-9E2A-2217693F4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E4E9D-0A7B-4C03-A23A-6C4A9DFD81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9240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0AB124-04B3-4B7D-A3B1-61BB3501E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7209FED-68D3-4299-98E3-B0B0CB5D84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DBAADB-7693-4D52-8F63-6BF080ED5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678E0-5032-4FB3-90DC-B9AE7FE7BC4F}" type="datetimeFigureOut">
              <a:rPr lang="ko-KR" altLang="en-US" smtClean="0"/>
              <a:t>2021-11-29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45BFBDA-199C-4BB0-A13E-181F8D1F6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35B0B4-F647-4C61-AF85-6D04D7540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E4E9D-0A7B-4C03-A23A-6C4A9DFD81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0460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96DD18-C2C5-4CDD-881C-258E3F64A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C5E2707-650A-459D-B9E7-94F68C3A3B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B502DBD-02C7-4919-8FBD-CD73225081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30C328-CD30-47A3-8E01-CE9A11779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678E0-5032-4FB3-90DC-B9AE7FE7BC4F}" type="datetimeFigureOut">
              <a:rPr lang="ko-KR" altLang="en-US" smtClean="0"/>
              <a:t>2021-11-29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5E95692-4C04-4902-BC54-2FD1C72D0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29162E3-5D9E-4EBC-B77B-01EAC052C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E4E9D-0A7B-4C03-A23A-6C4A9DFD81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23580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21816B-90BB-4598-968E-FF49EA913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3CACBCC-DF5D-49CA-AFF9-9A67AF4FC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B846C93-4FA6-46D9-AED9-3F79C85BC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58806B8-0920-40B1-BD4E-59D5840970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C07343E-D901-4F32-8D00-14D83BFDDB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FC1DF8C-556D-41B5-BE6A-1C66005A2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678E0-5032-4FB3-90DC-B9AE7FE7BC4F}" type="datetimeFigureOut">
              <a:rPr lang="ko-KR" altLang="en-US" smtClean="0"/>
              <a:t>2021-11-29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4AD88BD-2069-4B1D-BE9F-7E56680D4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8D24849-D660-4038-A924-25E198E28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E4E9D-0A7B-4C03-A23A-6C4A9DFD81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5570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BD38A1-DE06-499F-949C-844CC2EF8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6043A10-D861-4C5D-B826-65BFCBA7D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678E0-5032-4FB3-90DC-B9AE7FE7BC4F}" type="datetimeFigureOut">
              <a:rPr lang="ko-KR" altLang="en-US" smtClean="0"/>
              <a:t>2021-11-29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55BB4DA-835B-44D2-A80A-6E09A0598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68B0EDD-96BE-46D9-9540-793999B22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E4E9D-0A7B-4C03-A23A-6C4A9DFD81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2683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9B5D0F6-6301-48C2-9FAE-8BC2D8DD9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678E0-5032-4FB3-90DC-B9AE7FE7BC4F}" type="datetimeFigureOut">
              <a:rPr lang="ko-KR" altLang="en-US" smtClean="0"/>
              <a:t>2021-11-29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F7F44BC-CCE4-438C-9F07-6E542182E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80BDC5A-E659-47B1-8E32-732BF1082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E4E9D-0A7B-4C03-A23A-6C4A9DFD81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6831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54320C-3519-46C9-AA6A-19E340662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855392-EC59-4CEA-B5F9-C43E8E8995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3B71FDF-F07A-455C-8DEB-36F5A2D37A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D954CDD-990B-4ABB-9D74-4160E3700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678E0-5032-4FB3-90DC-B9AE7FE7BC4F}" type="datetimeFigureOut">
              <a:rPr lang="ko-KR" altLang="en-US" smtClean="0"/>
              <a:t>2021-11-29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DCDE6CA-3462-4D8B-B582-5BFDF67D6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C6DB1F-805E-44F3-A02C-F8C5EA017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E4E9D-0A7B-4C03-A23A-6C4A9DFD81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5251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0537FD-B651-446B-B99D-2D6345818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9FCB3FE-9730-4D52-BEC0-1015E6D008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AB1CDFE-2E9E-4D30-A4DD-B25623CAB8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91E5EBC-9815-4B31-B6A8-709FA5F84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678E0-5032-4FB3-90DC-B9AE7FE7BC4F}" type="datetimeFigureOut">
              <a:rPr lang="ko-KR" altLang="en-US" smtClean="0"/>
              <a:t>2021-11-29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4FD64B6-82BF-4333-87DE-3CD6D2CE5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A094D93-0587-4148-B402-DAD1E1120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E4E9D-0A7B-4C03-A23A-6C4A9DFD81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7175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A4237E-4B7E-416B-85CF-05E4FBC8B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54A6296-AC17-4E75-99BE-695248B59C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D98620-1553-4A5F-A1A7-5BCAEE229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678E0-5032-4FB3-90DC-B9AE7FE7BC4F}" type="datetimeFigureOut">
              <a:rPr lang="ko-KR" altLang="en-US" smtClean="0"/>
              <a:t>2021-11-29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098087-7497-4F2F-8609-2B285E08D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14A0B9-5527-4726-AF77-AB1DF1E64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E4E9D-0A7B-4C03-A23A-6C4A9DFD81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1642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AB932B4-483C-48EF-BFD7-F8C004F98D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C2DF68F-D069-439E-8606-C5B7E8F860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24E871-212A-4823-967B-55A1BAA08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678E0-5032-4FB3-90DC-B9AE7FE7BC4F}" type="datetimeFigureOut">
              <a:rPr lang="ko-KR" altLang="en-US" smtClean="0"/>
              <a:t>2021-11-29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A7B5347-0EB4-4AA9-A664-D512B184E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A7257DA-67C1-4F5D-82F0-B40D03686E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7E4E9D-0A7B-4C03-A23A-6C4A9DFD81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1502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294495D-C859-4A2C-AFD8-817AC9E875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472FE41-8A81-4B61-AB6C-C0618CFECA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422324-FD41-4F16-888C-B9297F3A2B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F678E0-5032-4FB3-90DC-B9AE7FE7BC4F}" type="datetimeFigureOut">
              <a:rPr lang="ko-KR" altLang="en-US" smtClean="0"/>
              <a:t>2021-11-29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4CFB49-D903-4F7E-A378-263E9F25C5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3C2959-34BB-4215-9EA9-1188F60206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7E4E9D-0A7B-4C03-A23A-6C4A9DFD816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4636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EDCB01-7B27-4576-94C0-92501BD753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/>
              <a:t>자바 목차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C334BAC-E2A5-430E-9B2B-1E4DD6825E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78675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9DD9CDC-AE46-4D00-A64A-5D7C89D55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389"/>
            <a:ext cx="5758249" cy="689244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DD3768D-4B5D-4DB6-81A6-B5A284DD14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2396" y="0"/>
            <a:ext cx="6067181" cy="684450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554382E-9D7B-457A-93C0-F79E34A61C97}"/>
              </a:ext>
            </a:extLst>
          </p:cNvPr>
          <p:cNvSpPr txBox="1"/>
          <p:nvPr/>
        </p:nvSpPr>
        <p:spPr>
          <a:xfrm>
            <a:off x="7364627" y="321276"/>
            <a:ext cx="4338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클래스는 더 많는 비밀을 가지고 있어요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9C1725-4C78-441A-8196-B29D5C938AB5}"/>
              </a:ext>
            </a:extLst>
          </p:cNvPr>
          <p:cNvSpPr txBox="1"/>
          <p:nvPr/>
        </p:nvSpPr>
        <p:spPr>
          <a:xfrm>
            <a:off x="1631716" y="321276"/>
            <a:ext cx="23952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클래스를 구경해봐요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1555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12C3372B-F6E5-4C77-BC62-800DEBB9BA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94" y="93148"/>
            <a:ext cx="5782482" cy="614448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00D51BB-2491-47DF-811A-EFCCC8DFFE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6376" y="332464"/>
            <a:ext cx="5725324" cy="65255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A7B1734-D73E-4683-9368-23C34054CB68}"/>
              </a:ext>
            </a:extLst>
          </p:cNvPr>
          <p:cNvSpPr txBox="1"/>
          <p:nvPr/>
        </p:nvSpPr>
        <p:spPr>
          <a:xfrm>
            <a:off x="7836206" y="433172"/>
            <a:ext cx="24256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일꾼들고 그 도우미들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BDC442-31F8-4114-915F-C14DFAE9A4DC}"/>
              </a:ext>
            </a:extLst>
          </p:cNvPr>
          <p:cNvSpPr txBox="1"/>
          <p:nvPr/>
        </p:nvSpPr>
        <p:spPr>
          <a:xfrm>
            <a:off x="1787611" y="433172"/>
            <a:ext cx="3223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객체는 클래스이 친구인가요</a:t>
            </a:r>
            <a:r>
              <a:rPr lang="en-US" altLang="ko-KR"/>
              <a:t>?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85504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3071604-80C3-4608-869B-AC9196D4A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420" y="216208"/>
            <a:ext cx="4429743" cy="603016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2C6BAE0-E5A4-48AE-8A3C-A329DD89A1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3430" y="311471"/>
            <a:ext cx="4382112" cy="5839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216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41037C7-404B-42FF-A5A0-AF94EEAE5D86}"/>
              </a:ext>
            </a:extLst>
          </p:cNvPr>
          <p:cNvSpPr txBox="1"/>
          <p:nvPr/>
        </p:nvSpPr>
        <p:spPr>
          <a:xfrm>
            <a:off x="194396" y="147788"/>
            <a:ext cx="7957567" cy="369332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ko-KR" altLang="en-US"/>
              <a:t>펫 돌봄 서비스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D075889-C2DB-4C83-9661-820375B7C4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0894414"/>
              </p:ext>
            </p:extLst>
          </p:nvPr>
        </p:nvGraphicFramePr>
        <p:xfrm>
          <a:off x="194395" y="2754568"/>
          <a:ext cx="7957567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57567">
                  <a:extLst>
                    <a:ext uri="{9D8B030D-6E8A-4147-A177-3AD203B41FA5}">
                      <a16:colId xmlns:a16="http://schemas.microsoft.com/office/drawing/2014/main" val="4237886501"/>
                    </a:ext>
                  </a:extLst>
                </a:gridCol>
              </a:tblGrid>
              <a:tr h="22266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PetDoctor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1627523"/>
                  </a:ext>
                </a:extLst>
              </a:tr>
              <a:tr h="40069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name : </a:t>
                      </a:r>
                      <a:r>
                        <a:rPr lang="ko-KR" altLang="en-US"/>
                        <a:t>이름</a:t>
                      </a:r>
                      <a:endParaRPr lang="en-US" altLang="ko-KR"/>
                    </a:p>
                    <a:p>
                      <a:pPr latinLnBrk="1"/>
                      <a:r>
                        <a:rPr lang="en-US" altLang="ko-KR"/>
                        <a:t>income</a:t>
                      </a:r>
                      <a:r>
                        <a:rPr lang="ko-KR" altLang="en-US"/>
                        <a:t> </a:t>
                      </a:r>
                      <a:r>
                        <a:rPr lang="en-US" altLang="ko-KR"/>
                        <a:t>:</a:t>
                      </a:r>
                      <a:r>
                        <a:rPr lang="ko-KR" altLang="en-US"/>
                        <a:t> 수입금액</a:t>
                      </a:r>
                      <a:endParaRPr lang="en-US" alt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1309367"/>
                  </a:ext>
                </a:extLst>
              </a:tr>
              <a:tr h="7012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checkHealth(</a:t>
                      </a:r>
                      <a:r>
                        <a:rPr lang="en-US" altLang="ko-KR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String petName</a:t>
                      </a:r>
                      <a:r>
                        <a:rPr lang="en-US" altLang="ko-KR"/>
                        <a:t>) : </a:t>
                      </a:r>
                      <a:r>
                        <a:rPr lang="ko-KR" altLang="en-US"/>
                        <a:t>건강 체크하다</a:t>
                      </a:r>
                      <a:r>
                        <a:rPr lang="en-US" altLang="ko-KR"/>
                        <a:t>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treat(String petName) : </a:t>
                      </a:r>
                      <a:r>
                        <a:rPr lang="ko-KR" alt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치료하다</a:t>
                      </a:r>
                      <a:endParaRPr lang="en-US" altLang="ko-KR" sz="18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chargeCost():</a:t>
                      </a:r>
                      <a:r>
                        <a:rPr lang="ko-KR" alt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비용을 청구하다</a:t>
                      </a:r>
                      <a:endParaRPr lang="en-US" altLang="ko-KR" sz="18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0459199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F2D90AF-163A-4C46-9085-FC1D4AD5DD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6912905"/>
              </p:ext>
            </p:extLst>
          </p:nvPr>
        </p:nvGraphicFramePr>
        <p:xfrm>
          <a:off x="194394" y="4820834"/>
          <a:ext cx="7957567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57567">
                  <a:extLst>
                    <a:ext uri="{9D8B030D-6E8A-4147-A177-3AD203B41FA5}">
                      <a16:colId xmlns:a16="http://schemas.microsoft.com/office/drawing/2014/main" val="2047958004"/>
                    </a:ext>
                  </a:extLst>
                </a:gridCol>
              </a:tblGrid>
              <a:tr h="13740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PetSitter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4892465"/>
                  </a:ext>
                </a:extLst>
              </a:tr>
              <a:tr h="29348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name : </a:t>
                      </a:r>
                      <a:r>
                        <a:rPr lang="ko-KR" altLang="en-US"/>
                        <a:t>이름</a:t>
                      </a:r>
                      <a:endParaRPr lang="en-US" altLang="ko-KR"/>
                    </a:p>
                    <a:p>
                      <a:pPr latinLnBrk="1"/>
                      <a:r>
                        <a:rPr lang="en-US" altLang="ko-KR"/>
                        <a:t>income : </a:t>
                      </a:r>
                      <a:r>
                        <a:rPr lang="ko-KR" altLang="en-US"/>
                        <a:t>수입금액</a:t>
                      </a:r>
                      <a:endParaRPr lang="en-US" alt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1553191"/>
                  </a:ext>
                </a:extLst>
              </a:tr>
              <a:tr h="44243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takeCare(String petName, int serviceNo) : </a:t>
                      </a:r>
                      <a:r>
                        <a:rPr lang="ko-KR" alt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돌보다 </a:t>
                      </a:r>
                      <a:endParaRPr lang="en-US" altLang="ko-KR" sz="18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(1.nomalService,  2. specialService </a:t>
                      </a:r>
                      <a:r>
                        <a:rPr lang="ko-KR" alt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 택</a:t>
                      </a:r>
                      <a:r>
                        <a:rPr lang="en-US" altLang="ko-KR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chargeCost(int serviceNo):</a:t>
                      </a:r>
                      <a:r>
                        <a:rPr lang="ko-KR" alt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비용을 청구하다</a:t>
                      </a:r>
                      <a:endParaRPr lang="en-US" altLang="ko-KR" sz="18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0851256"/>
                  </a:ext>
                </a:extLst>
              </a:tr>
            </a:tbl>
          </a:graphicData>
        </a:graphic>
      </p:graphicFrame>
      <p:graphicFrame>
        <p:nvGraphicFramePr>
          <p:cNvPr id="67" name="표 66">
            <a:extLst>
              <a:ext uri="{FF2B5EF4-FFF2-40B4-BE49-F238E27FC236}">
                <a16:creationId xmlns:a16="http://schemas.microsoft.com/office/drawing/2014/main" id="{BDA7D40E-F1DD-4A1B-9B21-68E7F8ED9C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5346107"/>
              </p:ext>
            </p:extLst>
          </p:nvPr>
        </p:nvGraphicFramePr>
        <p:xfrm>
          <a:off x="194396" y="660720"/>
          <a:ext cx="7957567" cy="1950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57567">
                  <a:extLst>
                    <a:ext uri="{9D8B030D-6E8A-4147-A177-3AD203B41FA5}">
                      <a16:colId xmlns:a16="http://schemas.microsoft.com/office/drawing/2014/main" val="4237886501"/>
                    </a:ext>
                  </a:extLst>
                </a:gridCol>
              </a:tblGrid>
              <a:tr h="39576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PetOwner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1627523"/>
                  </a:ext>
                </a:extLst>
              </a:tr>
              <a:tr h="4522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name : </a:t>
                      </a:r>
                      <a:r>
                        <a:rPr lang="ko-KR" altLang="en-US"/>
                        <a:t>이름</a:t>
                      </a:r>
                      <a:endParaRPr lang="en-US" altLang="ko-KR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petName : </a:t>
                      </a:r>
                      <a:r>
                        <a:rPr lang="ko-KR" altLang="en-US"/>
                        <a:t>펫 이름</a:t>
                      </a:r>
                      <a:endParaRPr lang="en-US" altLang="ko-KR"/>
                    </a:p>
                    <a:p>
                      <a:pPr latinLnBrk="1"/>
                      <a:r>
                        <a:rPr lang="en-US" altLang="ko-KR"/>
                        <a:t>amount : </a:t>
                      </a:r>
                      <a:r>
                        <a:rPr lang="ko-KR" altLang="en-US"/>
                        <a:t>금액</a:t>
                      </a:r>
                      <a:endParaRPr lang="en-US" alt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1309367"/>
                  </a:ext>
                </a:extLst>
              </a:tr>
              <a:tr h="19402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selectService()</a:t>
                      </a:r>
                      <a:r>
                        <a:rPr lang="ko-KR" alt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</a:t>
                      </a:r>
                      <a:r>
                        <a:rPr lang="ko-KR" alt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서비스 선택하다</a:t>
                      </a:r>
                      <a:r>
                        <a:rPr lang="en-US" altLang="ko-KR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payCost(int cost) : </a:t>
                      </a:r>
                      <a:r>
                        <a:rPr lang="ko-KR" altLang="en-US"/>
                        <a:t>비용을 지불하다</a:t>
                      </a:r>
                      <a:r>
                        <a:rPr lang="en-US" altLang="ko-KR"/>
                        <a:t>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0459199"/>
                  </a:ext>
                </a:extLst>
              </a:tr>
            </a:tbl>
          </a:graphicData>
        </a:graphic>
      </p:graphicFrame>
      <p:graphicFrame>
        <p:nvGraphicFramePr>
          <p:cNvPr id="68" name="표 67">
            <a:extLst>
              <a:ext uri="{FF2B5EF4-FFF2-40B4-BE49-F238E27FC236}">
                <a16:creationId xmlns:a16="http://schemas.microsoft.com/office/drawing/2014/main" id="{B7DF40C5-AD6E-47B3-915A-A4116D3E30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640895"/>
              </p:ext>
            </p:extLst>
          </p:nvPr>
        </p:nvGraphicFramePr>
        <p:xfrm>
          <a:off x="8242842" y="660720"/>
          <a:ext cx="3592600" cy="34083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2600">
                  <a:extLst>
                    <a:ext uri="{9D8B030D-6E8A-4147-A177-3AD203B41FA5}">
                      <a16:colId xmlns:a16="http://schemas.microsoft.com/office/drawing/2014/main" val="4237886501"/>
                    </a:ext>
                  </a:extLst>
                </a:gridCol>
              </a:tblGrid>
              <a:tr h="39576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Main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1627523"/>
                  </a:ext>
                </a:extLst>
              </a:tr>
              <a:tr h="4522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main()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1309367"/>
                  </a:ext>
                </a:extLst>
              </a:tr>
              <a:tr h="194027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PetOwner 2</a:t>
                      </a:r>
                      <a:r>
                        <a:rPr lang="ko-KR" altLang="en-US"/>
                        <a:t>명</a:t>
                      </a:r>
                      <a:endParaRPr lang="en-US" altLang="ko-KR"/>
                    </a:p>
                    <a:p>
                      <a:pPr latinLnBrk="1"/>
                      <a:r>
                        <a:rPr lang="en-US" altLang="ko-KR"/>
                        <a:t>petSitter 1</a:t>
                      </a:r>
                      <a:r>
                        <a:rPr lang="ko-KR" altLang="en-US"/>
                        <a:t>명</a:t>
                      </a:r>
                      <a:endParaRPr lang="en-US" altLang="ko-KR"/>
                    </a:p>
                    <a:p>
                      <a:pPr latinLnBrk="1"/>
                      <a:r>
                        <a:rPr lang="en-US" altLang="ko-KR"/>
                        <a:t>petDoctor</a:t>
                      </a:r>
                      <a:r>
                        <a:rPr lang="ko-KR" altLang="en-US"/>
                        <a:t> </a:t>
                      </a:r>
                      <a:r>
                        <a:rPr lang="en-US" altLang="ko-KR"/>
                        <a:t>1</a:t>
                      </a:r>
                      <a:r>
                        <a:rPr lang="ko-KR" altLang="en-US"/>
                        <a:t>명</a:t>
                      </a:r>
                      <a:endParaRPr lang="en-US" altLang="ko-KR"/>
                    </a:p>
                    <a:p>
                      <a:pPr latinLnBrk="1"/>
                      <a:endParaRPr lang="en-US" altLang="ko-KR"/>
                    </a:p>
                    <a:p>
                      <a:pPr latinLnBrk="1"/>
                      <a:r>
                        <a:rPr lang="en-US" altLang="ko-KR"/>
                        <a:t>1</a:t>
                      </a:r>
                      <a:r>
                        <a:rPr lang="ko-KR" altLang="en-US"/>
                        <a:t>번 </a:t>
                      </a:r>
                      <a:r>
                        <a:rPr lang="en-US" altLang="ko-KR"/>
                        <a:t>petOwner  </a:t>
                      </a:r>
                    </a:p>
                    <a:p>
                      <a:pPr latinLnBrk="1"/>
                      <a:r>
                        <a:rPr lang="en-US" altLang="ko-KR"/>
                        <a:t>checkHealth &amp; </a:t>
                      </a:r>
                      <a:r>
                        <a:rPr lang="en-US" altLang="ko-KR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nomalService</a:t>
                      </a:r>
                      <a:endParaRPr lang="en-US" altLang="ko-KR"/>
                    </a:p>
                    <a:p>
                      <a:pPr latinLnBrk="1"/>
                      <a:endParaRPr lang="en-US" altLang="ko-KR"/>
                    </a:p>
                    <a:p>
                      <a:pPr latinLnBrk="1"/>
                      <a:r>
                        <a:rPr lang="en-US" altLang="ko-KR"/>
                        <a:t>2</a:t>
                      </a:r>
                      <a:r>
                        <a:rPr lang="ko-KR" altLang="en-US"/>
                        <a:t>번 </a:t>
                      </a:r>
                      <a:r>
                        <a:rPr lang="en-US" altLang="ko-KR"/>
                        <a:t>petOwner </a:t>
                      </a:r>
                    </a:p>
                    <a:p>
                      <a:pPr latinLnBrk="1"/>
                      <a:r>
                        <a:rPr lang="en-US" altLang="ko-KR"/>
                        <a:t>treat</a:t>
                      </a:r>
                      <a:r>
                        <a:rPr lang="en-US" altLang="ko-KR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&amp; specialService</a:t>
                      </a:r>
                      <a:endParaRPr lang="en-US" alt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0459199"/>
                  </a:ext>
                </a:extLst>
              </a:tr>
            </a:tbl>
          </a:graphicData>
        </a:graphic>
      </p:graphicFrame>
      <p:graphicFrame>
        <p:nvGraphicFramePr>
          <p:cNvPr id="70" name="표 70">
            <a:extLst>
              <a:ext uri="{FF2B5EF4-FFF2-40B4-BE49-F238E27FC236}">
                <a16:creationId xmlns:a16="http://schemas.microsoft.com/office/drawing/2014/main" id="{764B8F05-6665-499C-A6B1-FACC8A346D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7337971"/>
              </p:ext>
            </p:extLst>
          </p:nvPr>
        </p:nvGraphicFramePr>
        <p:xfrm>
          <a:off x="8242842" y="4181626"/>
          <a:ext cx="3592600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92600">
                  <a:extLst>
                    <a:ext uri="{9D8B030D-6E8A-4147-A177-3AD203B41FA5}">
                      <a16:colId xmlns:a16="http://schemas.microsoft.com/office/drawing/2014/main" val="25719275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Service</a:t>
                      </a:r>
                      <a:r>
                        <a:rPr lang="ko-KR" altLang="en-US"/>
                        <a:t>  종류와 비용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2770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1. checkHealth : 15000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9395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2. treat : 20000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3502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3. nomalService : 5000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3760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4.</a:t>
                      </a:r>
                      <a:r>
                        <a:rPr lang="en-US" altLang="ko-KR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specialService</a:t>
                      </a:r>
                      <a:r>
                        <a:rPr lang="en-US" altLang="ko-KR"/>
                        <a:t> : 10000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45161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8135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7662AF2A-D151-4F4F-A59E-7613006032C9}"/>
              </a:ext>
            </a:extLst>
          </p:cNvPr>
          <p:cNvGraphicFramePr>
            <a:graphicFrameLocks noGrp="1"/>
          </p:cNvGraphicFramePr>
          <p:nvPr/>
        </p:nvGraphicFramePr>
        <p:xfrm>
          <a:off x="391462" y="3580078"/>
          <a:ext cx="1553007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3007">
                  <a:extLst>
                    <a:ext uri="{9D8B030D-6E8A-4147-A177-3AD203B41FA5}">
                      <a16:colId xmlns:a16="http://schemas.microsoft.com/office/drawing/2014/main" val="3494283140"/>
                    </a:ext>
                  </a:extLst>
                </a:gridCol>
              </a:tblGrid>
              <a:tr h="17101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Dog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7773793"/>
                  </a:ext>
                </a:extLst>
              </a:tr>
              <a:tr h="171016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7660805"/>
                  </a:ext>
                </a:extLst>
              </a:tr>
              <a:tr h="264594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1075270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28E6AE0-77EF-492E-8B4F-5C819A2AF2CB}"/>
              </a:ext>
            </a:extLst>
          </p:cNvPr>
          <p:cNvGraphicFramePr>
            <a:graphicFrameLocks noGrp="1"/>
          </p:cNvGraphicFramePr>
          <p:nvPr/>
        </p:nvGraphicFramePr>
        <p:xfrm>
          <a:off x="1330995" y="1216760"/>
          <a:ext cx="1553007" cy="1973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3007">
                  <a:extLst>
                    <a:ext uri="{9D8B030D-6E8A-4147-A177-3AD203B41FA5}">
                      <a16:colId xmlns:a16="http://schemas.microsoft.com/office/drawing/2014/main" val="4237886501"/>
                    </a:ext>
                  </a:extLst>
                </a:gridCol>
              </a:tblGrid>
              <a:tr h="2973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Animal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1627523"/>
                  </a:ext>
                </a:extLst>
              </a:tr>
              <a:tr h="2973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name : </a:t>
                      </a:r>
                      <a:r>
                        <a:rPr lang="ko-KR" altLang="en-US"/>
                        <a:t>이름</a:t>
                      </a:r>
                      <a:endParaRPr lang="en-US" altLang="ko-KR"/>
                    </a:p>
                    <a:p>
                      <a:pPr latinLnBrk="1"/>
                      <a:r>
                        <a:rPr lang="en-US" altLang="ko-KR"/>
                        <a:t>age : </a:t>
                      </a:r>
                      <a:r>
                        <a:rPr lang="ko-KR" altLang="en-US"/>
                        <a:t>나이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1309367"/>
                  </a:ext>
                </a:extLst>
              </a:tr>
              <a:tr h="96743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eat() : </a:t>
                      </a:r>
                      <a:r>
                        <a:rPr lang="ko-KR" altLang="en-US"/>
                        <a:t>먹다</a:t>
                      </a:r>
                      <a:endParaRPr lang="en-US" altLang="ko-KR"/>
                    </a:p>
                    <a:p>
                      <a:pPr latinLnBrk="1"/>
                      <a:r>
                        <a:rPr lang="en-US" altLang="ko-KR"/>
                        <a:t>play() : </a:t>
                      </a:r>
                      <a:r>
                        <a:rPr lang="ko-KR" altLang="en-US"/>
                        <a:t>놀다</a:t>
                      </a:r>
                      <a:endParaRPr lang="en-US" altLang="ko-KR"/>
                    </a:p>
                    <a:p>
                      <a:pPr latinLnBrk="1"/>
                      <a:r>
                        <a:rPr lang="en-US" altLang="ko-KR"/>
                        <a:t>sleep() : </a:t>
                      </a:r>
                      <a:r>
                        <a:rPr lang="ko-KR" altLang="en-US"/>
                        <a:t>자다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045919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41037C7-404B-42FF-A5A0-AF94EEAE5D86}"/>
              </a:ext>
            </a:extLst>
          </p:cNvPr>
          <p:cNvSpPr txBox="1"/>
          <p:nvPr/>
        </p:nvSpPr>
        <p:spPr>
          <a:xfrm>
            <a:off x="6911026" y="560173"/>
            <a:ext cx="4910270" cy="369332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ko-KR" altLang="en-US"/>
              <a:t>동물 종합 서비스센터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D075889-C2DB-4C83-9661-820375B7C4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5140498"/>
              </p:ext>
            </p:extLst>
          </p:nvPr>
        </p:nvGraphicFramePr>
        <p:xfrm>
          <a:off x="6911026" y="2719098"/>
          <a:ext cx="4910270" cy="1502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10270">
                  <a:extLst>
                    <a:ext uri="{9D8B030D-6E8A-4147-A177-3AD203B41FA5}">
                      <a16:colId xmlns:a16="http://schemas.microsoft.com/office/drawing/2014/main" val="4237886501"/>
                    </a:ext>
                  </a:extLst>
                </a:gridCol>
              </a:tblGrid>
              <a:tr h="40069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PetDoctor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1627523"/>
                  </a:ext>
                </a:extLst>
              </a:tr>
              <a:tr h="40069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name : </a:t>
                      </a:r>
                      <a:r>
                        <a:rPr lang="ko-KR" altLang="en-US"/>
                        <a:t>이름</a:t>
                      </a:r>
                      <a:endParaRPr lang="en-US" alt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1309367"/>
                  </a:ext>
                </a:extLst>
              </a:tr>
              <a:tr h="7012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checkHealth(</a:t>
                      </a:r>
                      <a:r>
                        <a:rPr lang="en-US" altLang="ko-KR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Animal</a:t>
                      </a:r>
                      <a:r>
                        <a:rPr lang="en-US" altLang="ko-KR"/>
                        <a:t>) : </a:t>
                      </a:r>
                      <a:r>
                        <a:rPr lang="ko-KR" altLang="en-US"/>
                        <a:t>건강 체크하다</a:t>
                      </a:r>
                      <a:r>
                        <a:rPr lang="en-US" altLang="ko-KR"/>
                        <a:t>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treat(Animal) : </a:t>
                      </a:r>
                      <a:r>
                        <a:rPr lang="ko-KR" alt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치료하다</a:t>
                      </a:r>
                      <a:endParaRPr lang="en-US" altLang="ko-KR" sz="18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0459199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F2D90AF-163A-4C46-9085-FC1D4AD5DD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7862123"/>
              </p:ext>
            </p:extLst>
          </p:nvPr>
        </p:nvGraphicFramePr>
        <p:xfrm>
          <a:off x="6911027" y="1179351"/>
          <a:ext cx="491027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10270">
                  <a:extLst>
                    <a:ext uri="{9D8B030D-6E8A-4147-A177-3AD203B41FA5}">
                      <a16:colId xmlns:a16="http://schemas.microsoft.com/office/drawing/2014/main" val="2047958004"/>
                    </a:ext>
                  </a:extLst>
                </a:gridCol>
              </a:tblGrid>
              <a:tr h="21553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PetSitter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4892465"/>
                  </a:ext>
                </a:extLst>
              </a:tr>
              <a:tr h="21553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name : </a:t>
                      </a:r>
                      <a:r>
                        <a:rPr lang="ko-KR" altLang="en-US"/>
                        <a:t>이름</a:t>
                      </a:r>
                      <a:endParaRPr lang="en-US" alt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1553191"/>
                  </a:ext>
                </a:extLst>
              </a:tr>
              <a:tr h="46436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manage(Animal, IO) : </a:t>
                      </a:r>
                      <a:r>
                        <a:rPr lang="ko-KR" altLang="en-US"/>
                        <a:t>입</a:t>
                      </a:r>
                      <a:r>
                        <a:rPr lang="en-US" altLang="ko-KR"/>
                        <a:t>/</a:t>
                      </a:r>
                      <a:r>
                        <a:rPr lang="ko-KR" altLang="en-US"/>
                        <a:t>출입 관리하다</a:t>
                      </a:r>
                      <a:endParaRPr lang="en-US" altLang="ko-KR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takeCare(Animal) : </a:t>
                      </a:r>
                      <a:r>
                        <a:rPr lang="ko-KR" alt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돌보다</a:t>
                      </a:r>
                      <a:endParaRPr lang="en-US" altLang="ko-KR" sz="18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0851256"/>
                  </a:ext>
                </a:extLst>
              </a:tr>
            </a:tbl>
          </a:graphicData>
        </a:graphic>
      </p:graphicFrame>
      <p:graphicFrame>
        <p:nvGraphicFramePr>
          <p:cNvPr id="15" name="표 3">
            <a:extLst>
              <a:ext uri="{FF2B5EF4-FFF2-40B4-BE49-F238E27FC236}">
                <a16:creationId xmlns:a16="http://schemas.microsoft.com/office/drawing/2014/main" id="{EDEB5B07-A760-4BA3-AAA2-D2CA1344E552}"/>
              </a:ext>
            </a:extLst>
          </p:cNvPr>
          <p:cNvGraphicFramePr>
            <a:graphicFrameLocks noGrp="1"/>
          </p:cNvGraphicFramePr>
          <p:nvPr/>
        </p:nvGraphicFramePr>
        <p:xfrm>
          <a:off x="345119" y="5047980"/>
          <a:ext cx="3447195" cy="1651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447195">
                  <a:extLst>
                    <a:ext uri="{9D8B030D-6E8A-4147-A177-3AD203B41FA5}">
                      <a16:colId xmlns:a16="http://schemas.microsoft.com/office/drawing/2014/main" val="37681915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Pet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3845389"/>
                  </a:ext>
                </a:extLst>
              </a:tr>
              <a:tr h="238881"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9583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doCute() : </a:t>
                      </a:r>
                      <a:r>
                        <a:rPr lang="ko-KR" alt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재롱을부리다</a:t>
                      </a:r>
                      <a:endParaRPr lang="en-US" altLang="ko-KR" sz="18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setAnimalCard(AnimalCard)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: </a:t>
                      </a:r>
                      <a:r>
                        <a:rPr lang="ko-KR" altLang="en-US"/>
                        <a:t>동물카드를 부착하다</a:t>
                      </a:r>
                      <a:r>
                        <a:rPr lang="en-US" altLang="ko-KR"/>
                        <a:t>.</a:t>
                      </a:r>
                      <a:endParaRPr lang="en-US" altLang="ko-KR" sz="18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5730169"/>
                  </a:ext>
                </a:extLst>
              </a:tr>
            </a:tbl>
          </a:graphicData>
        </a:graphic>
      </p:graphicFrame>
      <p:graphicFrame>
        <p:nvGraphicFramePr>
          <p:cNvPr id="17" name="표 2">
            <a:extLst>
              <a:ext uri="{FF2B5EF4-FFF2-40B4-BE49-F238E27FC236}">
                <a16:creationId xmlns:a16="http://schemas.microsoft.com/office/drawing/2014/main" id="{4BE3055B-8286-459C-8A6D-B192C153FDC9}"/>
              </a:ext>
            </a:extLst>
          </p:cNvPr>
          <p:cNvGraphicFramePr>
            <a:graphicFrameLocks noGrp="1"/>
          </p:cNvGraphicFramePr>
          <p:nvPr/>
        </p:nvGraphicFramePr>
        <p:xfrm>
          <a:off x="2239307" y="3595449"/>
          <a:ext cx="1553007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3007">
                  <a:extLst>
                    <a:ext uri="{9D8B030D-6E8A-4147-A177-3AD203B41FA5}">
                      <a16:colId xmlns:a16="http://schemas.microsoft.com/office/drawing/2014/main" val="3494283140"/>
                    </a:ext>
                  </a:extLst>
                </a:gridCol>
              </a:tblGrid>
              <a:tr h="17101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Cat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7773793"/>
                  </a:ext>
                </a:extLst>
              </a:tr>
              <a:tr h="171016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7660805"/>
                  </a:ext>
                </a:extLst>
              </a:tr>
              <a:tr h="264594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1075270"/>
                  </a:ext>
                </a:extLst>
              </a:tr>
            </a:tbl>
          </a:graphicData>
        </a:graphic>
      </p:graphicFrame>
      <p:graphicFrame>
        <p:nvGraphicFramePr>
          <p:cNvPr id="18" name="표 2">
            <a:extLst>
              <a:ext uri="{FF2B5EF4-FFF2-40B4-BE49-F238E27FC236}">
                <a16:creationId xmlns:a16="http://schemas.microsoft.com/office/drawing/2014/main" id="{361D5566-9AE8-4BC3-9D53-1A9FC4E215E8}"/>
              </a:ext>
            </a:extLst>
          </p:cNvPr>
          <p:cNvGraphicFramePr>
            <a:graphicFrameLocks noGrp="1"/>
          </p:cNvGraphicFramePr>
          <p:nvPr/>
        </p:nvGraphicFramePr>
        <p:xfrm>
          <a:off x="4069134" y="5045540"/>
          <a:ext cx="2710083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0083">
                  <a:extLst>
                    <a:ext uri="{9D8B030D-6E8A-4147-A177-3AD203B41FA5}">
                      <a16:colId xmlns:a16="http://schemas.microsoft.com/office/drawing/2014/main" val="3494283140"/>
                    </a:ext>
                  </a:extLst>
                </a:gridCol>
              </a:tblGrid>
              <a:tr h="17101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AnimalCard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7773793"/>
                  </a:ext>
                </a:extLst>
              </a:tr>
              <a:tr h="17101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cardNumber : </a:t>
                      </a:r>
                      <a:r>
                        <a:rPr lang="ko-KR" altLang="en-US"/>
                        <a:t>카드번호</a:t>
                      </a:r>
                      <a:endParaRPr lang="en-US" altLang="ko-KR"/>
                    </a:p>
                    <a:p>
                      <a:pPr latinLnBrk="1"/>
                      <a:r>
                        <a:rPr lang="en-US" altLang="ko-KR"/>
                        <a:t>name : </a:t>
                      </a:r>
                      <a:r>
                        <a:rPr lang="ko-KR" altLang="en-US"/>
                        <a:t>동물이름</a:t>
                      </a:r>
                      <a:endParaRPr lang="en-US" altLang="ko-KR"/>
                    </a:p>
                    <a:p>
                      <a:pPr latinLnBrk="1"/>
                      <a:r>
                        <a:rPr lang="en-US" altLang="ko-KR"/>
                        <a:t>phone : </a:t>
                      </a:r>
                      <a:r>
                        <a:rPr lang="ko-KR" altLang="en-US"/>
                        <a:t>소유자전화번호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7660805"/>
                  </a:ext>
                </a:extLst>
              </a:tr>
              <a:tr h="26459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set(),</a:t>
                      </a:r>
                      <a:r>
                        <a:rPr lang="ko-KR" altLang="en-US"/>
                        <a:t> </a:t>
                      </a:r>
                      <a:r>
                        <a:rPr lang="en-US" altLang="ko-KR"/>
                        <a:t>get()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1075270"/>
                  </a:ext>
                </a:extLst>
              </a:tr>
            </a:tbl>
          </a:graphicData>
        </a:graphic>
      </p:graphicFrame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BBC1FCB2-9D5B-43E9-95E0-504625C0C80E}"/>
              </a:ext>
            </a:extLst>
          </p:cNvPr>
          <p:cNvCxnSpPr>
            <a:cxnSpLocks/>
            <a:stCxn id="2" idx="0"/>
            <a:endCxn id="8" idx="2"/>
          </p:cNvCxnSpPr>
          <p:nvPr/>
        </p:nvCxnSpPr>
        <p:spPr>
          <a:xfrm rot="5400000" flipH="1" flipV="1">
            <a:off x="1442710" y="2915291"/>
            <a:ext cx="390042" cy="93953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95B1A5DD-7C0B-4C07-96D5-5D2193E68363}"/>
              </a:ext>
            </a:extLst>
          </p:cNvPr>
          <p:cNvCxnSpPr>
            <a:cxnSpLocks/>
            <a:stCxn id="17" idx="0"/>
            <a:endCxn id="8" idx="2"/>
          </p:cNvCxnSpPr>
          <p:nvPr/>
        </p:nvCxnSpPr>
        <p:spPr>
          <a:xfrm rot="16200000" flipV="1">
            <a:off x="2358948" y="2938587"/>
            <a:ext cx="405413" cy="908312"/>
          </a:xfrm>
          <a:prstGeom prst="bentConnector3">
            <a:avLst>
              <a:gd name="adj1" fmla="val 5203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6A316494-C8E7-4F51-821A-1B7C6FEAB71A}"/>
              </a:ext>
            </a:extLst>
          </p:cNvPr>
          <p:cNvCxnSpPr>
            <a:cxnSpLocks/>
            <a:stCxn id="2" idx="2"/>
            <a:endCxn id="15" idx="0"/>
          </p:cNvCxnSpPr>
          <p:nvPr/>
        </p:nvCxnSpPr>
        <p:spPr>
          <a:xfrm rot="16200000" flipH="1">
            <a:off x="1433029" y="4412293"/>
            <a:ext cx="370622" cy="900751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연결선: 꺾임 34">
            <a:extLst>
              <a:ext uri="{FF2B5EF4-FFF2-40B4-BE49-F238E27FC236}">
                <a16:creationId xmlns:a16="http://schemas.microsoft.com/office/drawing/2014/main" id="{5E84F3E2-4DFC-4B6B-B59F-BE0DF5E4AA35}"/>
              </a:ext>
            </a:extLst>
          </p:cNvPr>
          <p:cNvCxnSpPr>
            <a:cxnSpLocks/>
            <a:stCxn id="17" idx="2"/>
            <a:endCxn id="15" idx="0"/>
          </p:cNvCxnSpPr>
          <p:nvPr/>
        </p:nvCxnSpPr>
        <p:spPr>
          <a:xfrm rot="5400000">
            <a:off x="2364638" y="4396807"/>
            <a:ext cx="355251" cy="947094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1F96301E-B11D-4FC5-98A8-7FA17F4D658A}"/>
              </a:ext>
            </a:extLst>
          </p:cNvPr>
          <p:cNvSpPr txBox="1"/>
          <p:nvPr/>
        </p:nvSpPr>
        <p:spPr>
          <a:xfrm>
            <a:off x="366924" y="568411"/>
            <a:ext cx="6412293" cy="369332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ko-KR"/>
              <a:t>MY PET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358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7662AF2A-D151-4F4F-A59E-7613006032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6894727"/>
              </p:ext>
            </p:extLst>
          </p:nvPr>
        </p:nvGraphicFramePr>
        <p:xfrm>
          <a:off x="391462" y="3580078"/>
          <a:ext cx="1553007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3007">
                  <a:extLst>
                    <a:ext uri="{9D8B030D-6E8A-4147-A177-3AD203B41FA5}">
                      <a16:colId xmlns:a16="http://schemas.microsoft.com/office/drawing/2014/main" val="3494283140"/>
                    </a:ext>
                  </a:extLst>
                </a:gridCol>
              </a:tblGrid>
              <a:tr h="17101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Dog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7773793"/>
                  </a:ext>
                </a:extLst>
              </a:tr>
              <a:tr h="171016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7660805"/>
                  </a:ext>
                </a:extLst>
              </a:tr>
              <a:tr h="264594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1075270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A28E6AE0-77EF-492E-8B4F-5C819A2AF2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6825922"/>
              </p:ext>
            </p:extLst>
          </p:nvPr>
        </p:nvGraphicFramePr>
        <p:xfrm>
          <a:off x="1330995" y="1216760"/>
          <a:ext cx="1553007" cy="1973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3007">
                  <a:extLst>
                    <a:ext uri="{9D8B030D-6E8A-4147-A177-3AD203B41FA5}">
                      <a16:colId xmlns:a16="http://schemas.microsoft.com/office/drawing/2014/main" val="4237886501"/>
                    </a:ext>
                  </a:extLst>
                </a:gridCol>
              </a:tblGrid>
              <a:tr h="2973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Animal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1627523"/>
                  </a:ext>
                </a:extLst>
              </a:tr>
              <a:tr h="29739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name : </a:t>
                      </a:r>
                      <a:r>
                        <a:rPr lang="ko-KR" altLang="en-US"/>
                        <a:t>이름</a:t>
                      </a:r>
                      <a:endParaRPr lang="en-US" altLang="ko-KR"/>
                    </a:p>
                    <a:p>
                      <a:pPr latinLnBrk="1"/>
                      <a:r>
                        <a:rPr lang="en-US" altLang="ko-KR"/>
                        <a:t>age : </a:t>
                      </a:r>
                      <a:r>
                        <a:rPr lang="ko-KR" altLang="en-US"/>
                        <a:t>나이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1309367"/>
                  </a:ext>
                </a:extLst>
              </a:tr>
              <a:tr h="96743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eat() : </a:t>
                      </a:r>
                      <a:r>
                        <a:rPr lang="ko-KR" altLang="en-US"/>
                        <a:t>먹다</a:t>
                      </a:r>
                      <a:endParaRPr lang="en-US" altLang="ko-KR"/>
                    </a:p>
                    <a:p>
                      <a:pPr latinLnBrk="1"/>
                      <a:r>
                        <a:rPr lang="en-US" altLang="ko-KR"/>
                        <a:t>play() : </a:t>
                      </a:r>
                      <a:r>
                        <a:rPr lang="ko-KR" altLang="en-US"/>
                        <a:t>놀다</a:t>
                      </a:r>
                      <a:endParaRPr lang="en-US" altLang="ko-KR"/>
                    </a:p>
                    <a:p>
                      <a:pPr latinLnBrk="1"/>
                      <a:r>
                        <a:rPr lang="en-US" altLang="ko-KR"/>
                        <a:t>sleep() : </a:t>
                      </a:r>
                      <a:r>
                        <a:rPr lang="ko-KR" altLang="en-US"/>
                        <a:t>자다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0459199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C41037C7-404B-42FF-A5A0-AF94EEAE5D86}"/>
              </a:ext>
            </a:extLst>
          </p:cNvPr>
          <p:cNvSpPr txBox="1"/>
          <p:nvPr/>
        </p:nvSpPr>
        <p:spPr>
          <a:xfrm>
            <a:off x="6911026" y="560173"/>
            <a:ext cx="4910270" cy="369332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ko-KR" altLang="en-US"/>
              <a:t>동물 종합 서비스센터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D075889-C2DB-4C83-9661-820375B7C4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3316267"/>
              </p:ext>
            </p:extLst>
          </p:nvPr>
        </p:nvGraphicFramePr>
        <p:xfrm>
          <a:off x="6911026" y="2719098"/>
          <a:ext cx="4910270" cy="19901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10270">
                  <a:extLst>
                    <a:ext uri="{9D8B030D-6E8A-4147-A177-3AD203B41FA5}">
                      <a16:colId xmlns:a16="http://schemas.microsoft.com/office/drawing/2014/main" val="4237886501"/>
                    </a:ext>
                  </a:extLst>
                </a:gridCol>
              </a:tblGrid>
              <a:tr h="40069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PetDoctor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1627523"/>
                  </a:ext>
                </a:extLst>
              </a:tr>
              <a:tr h="40069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name : </a:t>
                      </a:r>
                      <a:r>
                        <a:rPr lang="ko-KR" altLang="en-US"/>
                        <a:t>이름</a:t>
                      </a:r>
                      <a:endParaRPr lang="en-US" alt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1309367"/>
                  </a:ext>
                </a:extLst>
              </a:tr>
              <a:tr h="70121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checkHealth(</a:t>
                      </a:r>
                      <a:r>
                        <a:rPr lang="en-US" altLang="ko-KR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Animal</a:t>
                      </a:r>
                      <a:r>
                        <a:rPr lang="en-US" altLang="ko-KR"/>
                        <a:t>) : </a:t>
                      </a:r>
                      <a:r>
                        <a:rPr lang="ko-KR" altLang="en-US"/>
                        <a:t>건강 체크하다</a:t>
                      </a:r>
                      <a:r>
                        <a:rPr lang="en-US" altLang="ko-KR"/>
                        <a:t>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treat(Animal) : </a:t>
                      </a:r>
                      <a:r>
                        <a:rPr lang="ko-KR" alt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치료하다</a:t>
                      </a:r>
                      <a:endParaRPr lang="en-US" altLang="ko-KR" sz="18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consult() : </a:t>
                      </a:r>
                      <a:r>
                        <a:rPr lang="ko-KR" alt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상담하다</a:t>
                      </a:r>
                      <a:endParaRPr lang="en-US" altLang="ko-KR" sz="18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consult(Image) :</a:t>
                      </a:r>
                      <a:r>
                        <a:rPr lang="ko-KR" alt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사진을 보며 상담하다</a:t>
                      </a:r>
                      <a:endParaRPr lang="en-US" altLang="ko-KR" sz="1800" b="0" i="0" u="none" strike="noStrike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0459199"/>
                  </a:ext>
                </a:extLst>
              </a:tr>
            </a:tbl>
          </a:graphicData>
        </a:graphic>
      </p:graphicFrame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BF2D90AF-163A-4C46-9085-FC1D4AD5DD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0995551"/>
              </p:ext>
            </p:extLst>
          </p:nvPr>
        </p:nvGraphicFramePr>
        <p:xfrm>
          <a:off x="6911027" y="1179351"/>
          <a:ext cx="491027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10270">
                  <a:extLst>
                    <a:ext uri="{9D8B030D-6E8A-4147-A177-3AD203B41FA5}">
                      <a16:colId xmlns:a16="http://schemas.microsoft.com/office/drawing/2014/main" val="2047958004"/>
                    </a:ext>
                  </a:extLst>
                </a:gridCol>
              </a:tblGrid>
              <a:tr h="21553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PetSitter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4892465"/>
                  </a:ext>
                </a:extLst>
              </a:tr>
              <a:tr h="21553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name : </a:t>
                      </a:r>
                      <a:r>
                        <a:rPr lang="ko-KR" altLang="en-US"/>
                        <a:t>이름</a:t>
                      </a:r>
                      <a:endParaRPr lang="en-US" alt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1553191"/>
                  </a:ext>
                </a:extLst>
              </a:tr>
              <a:tr h="46436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manage(Animal, IO) : </a:t>
                      </a:r>
                      <a:r>
                        <a:rPr lang="ko-KR" altLang="en-US"/>
                        <a:t>입</a:t>
                      </a:r>
                      <a:r>
                        <a:rPr lang="en-US" altLang="ko-KR"/>
                        <a:t>/</a:t>
                      </a:r>
                      <a:r>
                        <a:rPr lang="ko-KR" altLang="en-US"/>
                        <a:t>출입 관리하다</a:t>
                      </a:r>
                      <a:endParaRPr lang="en-US" altLang="ko-KR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takeCare(Animal) : </a:t>
                      </a:r>
                      <a:r>
                        <a:rPr lang="ko-KR" alt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돌보다</a:t>
                      </a:r>
                      <a:endParaRPr lang="en-US" altLang="ko-KR" sz="18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0851256"/>
                  </a:ext>
                </a:extLst>
              </a:tr>
            </a:tbl>
          </a:graphicData>
        </a:graphic>
      </p:graphicFrame>
      <p:graphicFrame>
        <p:nvGraphicFramePr>
          <p:cNvPr id="15" name="표 3">
            <a:extLst>
              <a:ext uri="{FF2B5EF4-FFF2-40B4-BE49-F238E27FC236}">
                <a16:creationId xmlns:a16="http://schemas.microsoft.com/office/drawing/2014/main" id="{EDEB5B07-A760-4BA3-AAA2-D2CA1344E5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9453615"/>
              </p:ext>
            </p:extLst>
          </p:nvPr>
        </p:nvGraphicFramePr>
        <p:xfrm>
          <a:off x="345119" y="5047980"/>
          <a:ext cx="3447195" cy="16510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447195">
                  <a:extLst>
                    <a:ext uri="{9D8B030D-6E8A-4147-A177-3AD203B41FA5}">
                      <a16:colId xmlns:a16="http://schemas.microsoft.com/office/drawing/2014/main" val="37681915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Pet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3845389"/>
                  </a:ext>
                </a:extLst>
              </a:tr>
              <a:tr h="238881"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9583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doCute() : </a:t>
                      </a:r>
                      <a:r>
                        <a:rPr lang="ko-KR" alt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재롱을부리다</a:t>
                      </a:r>
                      <a:endParaRPr lang="en-US" altLang="ko-KR" sz="18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setAnimalCard(AnimalCard)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: </a:t>
                      </a:r>
                      <a:r>
                        <a:rPr lang="ko-KR" altLang="en-US"/>
                        <a:t>동물카드를 부착하다</a:t>
                      </a:r>
                      <a:r>
                        <a:rPr lang="en-US" altLang="ko-KR"/>
                        <a:t>.</a:t>
                      </a:r>
                      <a:endParaRPr lang="en-US" altLang="ko-KR" sz="1800" b="0" i="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5730169"/>
                  </a:ext>
                </a:extLst>
              </a:tr>
            </a:tbl>
          </a:graphicData>
        </a:graphic>
      </p:graphicFrame>
      <p:graphicFrame>
        <p:nvGraphicFramePr>
          <p:cNvPr id="17" name="표 2">
            <a:extLst>
              <a:ext uri="{FF2B5EF4-FFF2-40B4-BE49-F238E27FC236}">
                <a16:creationId xmlns:a16="http://schemas.microsoft.com/office/drawing/2014/main" id="{4BE3055B-8286-459C-8A6D-B192C153FD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2036639"/>
              </p:ext>
            </p:extLst>
          </p:nvPr>
        </p:nvGraphicFramePr>
        <p:xfrm>
          <a:off x="2239307" y="3595449"/>
          <a:ext cx="1553007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3007">
                  <a:extLst>
                    <a:ext uri="{9D8B030D-6E8A-4147-A177-3AD203B41FA5}">
                      <a16:colId xmlns:a16="http://schemas.microsoft.com/office/drawing/2014/main" val="3494283140"/>
                    </a:ext>
                  </a:extLst>
                </a:gridCol>
              </a:tblGrid>
              <a:tr h="17101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Cat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7773793"/>
                  </a:ext>
                </a:extLst>
              </a:tr>
              <a:tr h="171016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7660805"/>
                  </a:ext>
                </a:extLst>
              </a:tr>
              <a:tr h="264594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1075270"/>
                  </a:ext>
                </a:extLst>
              </a:tr>
            </a:tbl>
          </a:graphicData>
        </a:graphic>
      </p:graphicFrame>
      <p:graphicFrame>
        <p:nvGraphicFramePr>
          <p:cNvPr id="18" name="표 2">
            <a:extLst>
              <a:ext uri="{FF2B5EF4-FFF2-40B4-BE49-F238E27FC236}">
                <a16:creationId xmlns:a16="http://schemas.microsoft.com/office/drawing/2014/main" id="{361D5566-9AE8-4BC3-9D53-1A9FC4E215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594090"/>
              </p:ext>
            </p:extLst>
          </p:nvPr>
        </p:nvGraphicFramePr>
        <p:xfrm>
          <a:off x="4069134" y="5045540"/>
          <a:ext cx="2710083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0083">
                  <a:extLst>
                    <a:ext uri="{9D8B030D-6E8A-4147-A177-3AD203B41FA5}">
                      <a16:colId xmlns:a16="http://schemas.microsoft.com/office/drawing/2014/main" val="3494283140"/>
                    </a:ext>
                  </a:extLst>
                </a:gridCol>
              </a:tblGrid>
              <a:tr h="17101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AnimalCard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7773793"/>
                  </a:ext>
                </a:extLst>
              </a:tr>
              <a:tr h="171016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cardNumber : </a:t>
                      </a:r>
                      <a:r>
                        <a:rPr lang="ko-KR" altLang="en-US"/>
                        <a:t>카드번호</a:t>
                      </a:r>
                      <a:endParaRPr lang="en-US" altLang="ko-KR"/>
                    </a:p>
                    <a:p>
                      <a:pPr latinLnBrk="1"/>
                      <a:r>
                        <a:rPr lang="en-US" altLang="ko-KR"/>
                        <a:t>name : </a:t>
                      </a:r>
                      <a:r>
                        <a:rPr lang="ko-KR" altLang="en-US"/>
                        <a:t>동물이름</a:t>
                      </a:r>
                      <a:endParaRPr lang="en-US" altLang="ko-KR"/>
                    </a:p>
                    <a:p>
                      <a:pPr latinLnBrk="1"/>
                      <a:r>
                        <a:rPr lang="en-US" altLang="ko-KR"/>
                        <a:t>phone : </a:t>
                      </a:r>
                      <a:r>
                        <a:rPr lang="ko-KR" altLang="en-US"/>
                        <a:t>소유자전화번호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7660805"/>
                  </a:ext>
                </a:extLst>
              </a:tr>
              <a:tr h="264594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set(),</a:t>
                      </a:r>
                      <a:r>
                        <a:rPr lang="ko-KR" altLang="en-US"/>
                        <a:t> </a:t>
                      </a:r>
                      <a:r>
                        <a:rPr lang="en-US" altLang="ko-KR"/>
                        <a:t>get()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21075270"/>
                  </a:ext>
                </a:extLst>
              </a:tr>
            </a:tbl>
          </a:graphicData>
        </a:graphic>
      </p:graphicFrame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BBC1FCB2-9D5B-43E9-95E0-504625C0C80E}"/>
              </a:ext>
            </a:extLst>
          </p:cNvPr>
          <p:cNvCxnSpPr>
            <a:cxnSpLocks/>
            <a:stCxn id="2" idx="0"/>
            <a:endCxn id="8" idx="2"/>
          </p:cNvCxnSpPr>
          <p:nvPr/>
        </p:nvCxnSpPr>
        <p:spPr>
          <a:xfrm rot="5400000" flipH="1" flipV="1">
            <a:off x="1442710" y="2915291"/>
            <a:ext cx="390042" cy="93953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95B1A5DD-7C0B-4C07-96D5-5D2193E68363}"/>
              </a:ext>
            </a:extLst>
          </p:cNvPr>
          <p:cNvCxnSpPr>
            <a:cxnSpLocks/>
            <a:stCxn id="17" idx="0"/>
            <a:endCxn id="8" idx="2"/>
          </p:cNvCxnSpPr>
          <p:nvPr/>
        </p:nvCxnSpPr>
        <p:spPr>
          <a:xfrm rot="16200000" flipV="1">
            <a:off x="2358948" y="2938587"/>
            <a:ext cx="405413" cy="908312"/>
          </a:xfrm>
          <a:prstGeom prst="bentConnector3">
            <a:avLst>
              <a:gd name="adj1" fmla="val 5203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6A316494-C8E7-4F51-821A-1B7C6FEAB71A}"/>
              </a:ext>
            </a:extLst>
          </p:cNvPr>
          <p:cNvCxnSpPr>
            <a:cxnSpLocks/>
            <a:stCxn id="2" idx="2"/>
            <a:endCxn id="15" idx="0"/>
          </p:cNvCxnSpPr>
          <p:nvPr/>
        </p:nvCxnSpPr>
        <p:spPr>
          <a:xfrm rot="16200000" flipH="1">
            <a:off x="1433029" y="4412293"/>
            <a:ext cx="370622" cy="900751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연결선: 꺾임 34">
            <a:extLst>
              <a:ext uri="{FF2B5EF4-FFF2-40B4-BE49-F238E27FC236}">
                <a16:creationId xmlns:a16="http://schemas.microsoft.com/office/drawing/2014/main" id="{5E84F3E2-4DFC-4B6B-B59F-BE0DF5E4AA35}"/>
              </a:ext>
            </a:extLst>
          </p:cNvPr>
          <p:cNvCxnSpPr>
            <a:cxnSpLocks/>
            <a:stCxn id="17" idx="2"/>
            <a:endCxn id="15" idx="0"/>
          </p:cNvCxnSpPr>
          <p:nvPr/>
        </p:nvCxnSpPr>
        <p:spPr>
          <a:xfrm rot="5400000">
            <a:off x="2364638" y="4396807"/>
            <a:ext cx="355251" cy="947094"/>
          </a:xfrm>
          <a:prstGeom prst="bentConnector3">
            <a:avLst>
              <a:gd name="adj1" fmla="val 50000"/>
            </a:avLst>
          </a:prstGeom>
          <a:ln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1F96301E-B11D-4FC5-98A8-7FA17F4D658A}"/>
              </a:ext>
            </a:extLst>
          </p:cNvPr>
          <p:cNvSpPr txBox="1"/>
          <p:nvPr/>
        </p:nvSpPr>
        <p:spPr>
          <a:xfrm>
            <a:off x="366924" y="568411"/>
            <a:ext cx="6412293" cy="369332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altLang="ko-KR"/>
              <a:t>MY PET</a:t>
            </a:r>
            <a:endParaRPr lang="ko-KR" altLang="en-US"/>
          </a:p>
        </p:txBody>
      </p:sp>
      <p:graphicFrame>
        <p:nvGraphicFramePr>
          <p:cNvPr id="62" name="표 61">
            <a:extLst>
              <a:ext uri="{FF2B5EF4-FFF2-40B4-BE49-F238E27FC236}">
                <a16:creationId xmlns:a16="http://schemas.microsoft.com/office/drawing/2014/main" id="{72F83BD4-F205-4E24-93D8-BA0256252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1516693"/>
              </p:ext>
            </p:extLst>
          </p:nvPr>
        </p:nvGraphicFramePr>
        <p:xfrm>
          <a:off x="6911026" y="4901488"/>
          <a:ext cx="4910270" cy="17624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10270">
                  <a:extLst>
                    <a:ext uri="{9D8B030D-6E8A-4147-A177-3AD203B41FA5}">
                      <a16:colId xmlns:a16="http://schemas.microsoft.com/office/drawing/2014/main" val="4237886501"/>
                    </a:ext>
                  </a:extLst>
                </a:gridCol>
              </a:tblGrid>
              <a:tr h="395768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Customer</a:t>
                      </a: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1627523"/>
                  </a:ext>
                </a:extLst>
              </a:tr>
              <a:tr h="45225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/>
                        <a:t>name : </a:t>
                      </a:r>
                      <a:r>
                        <a:rPr lang="ko-KR" altLang="en-US"/>
                        <a:t>이름</a:t>
                      </a:r>
                      <a:endParaRPr lang="en-US" alt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1309367"/>
                  </a:ext>
                </a:extLst>
              </a:tr>
              <a:tr h="69004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visit() : </a:t>
                      </a:r>
                      <a:r>
                        <a:rPr lang="ko-KR" alt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방문하다</a:t>
                      </a:r>
                      <a:endParaRPr lang="en-US" altLang="ko-KR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getAdvice() : </a:t>
                      </a:r>
                      <a:r>
                        <a:rPr lang="ko-KR" altLang="en-US"/>
                        <a:t>채팅으로 조언얻다</a:t>
                      </a:r>
                      <a:endParaRPr lang="en-US" altLang="ko-KR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/>
                        <a:t>getAdvice(Image) : </a:t>
                      </a:r>
                      <a:r>
                        <a:rPr lang="ko-KR" alt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사진을 보며 상담받다</a:t>
                      </a:r>
                      <a:endParaRPr lang="en-US" alt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04591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703299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F7C91A-44CB-43D3-8403-0C17D499B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4400"/>
              <a:t>클래스를 만든다는 것은</a:t>
            </a:r>
            <a:r>
              <a:rPr lang="en-US" altLang="ko-KR" sz="4400"/>
              <a:t>?</a:t>
            </a:r>
            <a:br>
              <a:rPr lang="en-US" altLang="ko-KR" sz="4400"/>
            </a:br>
            <a:endParaRPr lang="ko-KR" altLang="en-US" sz="440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E4D68FA-5B88-4ED6-AC95-252A1F758F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ko-KR" altLang="en-US" sz="4400">
                <a:solidFill>
                  <a:srgbClr val="FF0000"/>
                </a:solidFill>
              </a:rPr>
              <a:t>나의 프로젝트 사전에 등록하는 것이다</a:t>
            </a:r>
            <a:r>
              <a:rPr lang="en-US" altLang="ko-KR" sz="4400">
                <a:solidFill>
                  <a:srgbClr val="FF0000"/>
                </a:solidFill>
              </a:rPr>
              <a:t>.</a:t>
            </a:r>
            <a:endParaRPr lang="ko-KR" altLang="en-US" sz="440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9947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17958</TotalTime>
  <Words>383</Words>
  <Application>Microsoft Office PowerPoint</Application>
  <PresentationFormat>와이드스크린</PresentationFormat>
  <Paragraphs>103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자바 목차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클래스를 만든다는 것은?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자바 목차</dc:title>
  <dc:creator>iTank@outlook.kr</dc:creator>
  <cp:lastModifiedBy>iTank@outlook.kr</cp:lastModifiedBy>
  <cp:revision>5</cp:revision>
  <dcterms:created xsi:type="dcterms:W3CDTF">2021-11-18T04:35:33Z</dcterms:created>
  <dcterms:modified xsi:type="dcterms:W3CDTF">2021-11-30T16:52:07Z</dcterms:modified>
</cp:coreProperties>
</file>